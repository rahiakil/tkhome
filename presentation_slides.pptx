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8686800" y="0"/>
            <a:ext cx="3504895" cy="6858000"/>
          </a:xfrm>
          <a:prstGeom prst="rtTriangle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2011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Smart Categorization Engine</a:t>
            </a:r>
          </a:p>
          <a:p>
            <a:pPr>
              <a:defRPr sz="1800">
                <a:solidFill>
                  <a:srgbClr val="00A8B5"/>
                </a:solidFill>
                <a:latin typeface="Arial"/>
              </a:defRPr>
            </a:pPr>
            <a:r>
              <a:t>Building a High-Precision, Self-Improving LLM Pipeline for Tax-Compliant Product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4572000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Presenter: Lead AI Product Engineer</a:t>
            </a:r>
          </a:p>
          <a:p>
            <a:pPr>
              <a:spcAft>
                <a:spcPts val="600"/>
              </a:spcAft>
              <a:defRPr sz="1300">
                <a:solidFill>
                  <a:srgbClr val="AAB9CD"/>
                </a:solidFill>
                <a:latin typeface="Arial"/>
              </a:defRPr>
            </a:pPr>
            <a:r>
              <a:t>Date: September 2026</a:t>
            </a:r>
          </a:p>
          <a:p>
            <a:pPr>
              <a:defRPr sz="1200">
                <a:solidFill>
                  <a:srgbClr val="00A8B5"/>
                </a:solidFill>
                <a:latin typeface="Arial"/>
              </a:defRPr>
            </a:pPr>
            <a:r>
              <a:t>Repository: https://github.com/rahiakil/tkhome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3657600"/>
            <a:ext cx="5303520" cy="2194560"/>
          </a:xfrm>
          <a:prstGeom prst="roundRect">
            <a:avLst/>
          </a:prstGeom>
          <a:solidFill>
            <a:srgbClr val="14325A"/>
          </a:solidFill>
          <a:ln w="1905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3840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A8B5"/>
                </a:solidFill>
                <a:latin typeface="Arial"/>
              </a:defRPr>
            </a:pPr>
            <a:r>
              <a:t>CORE MISSION GOAL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Arial"/>
              </a:defRPr>
            </a:pPr>
            <a:r>
              <a:t>Automate the mapping of 100k+ customer products to Vertex Tax Categories. Since raw customer descriptions are brief and vague, we enrich them using search results. This system filters out non-matching search results to ensure only CORRECT product data is used for downstream tax classification.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1000" b="1">
                <a:solidFill>
                  <a:srgbClr val="00A8B5"/>
                </a:solidFill>
                <a:latin typeface="Arial"/>
              </a:defRPr>
            </a:pPr>
            <a:r>
              <a:t>VERTEX SMART CATEGORIZATION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800" b="1">
                <a:solidFill>
                  <a:srgbClr val="0A2240"/>
                </a:solidFill>
                <a:latin typeface="Arial"/>
              </a:defRPr>
            </a:pPr>
            <a:r>
              <a:t>The Business Problem &amp; Core Dilemma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828800" cy="36576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20640" cy="3749039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A2240"/>
                </a:solidFill>
                <a:latin typeface="Arial"/>
              </a:defRPr>
            </a:pPr>
            <a:r>
              <a:t>THE INFORMATION GAP</a:t>
            </a:r>
          </a:p>
          <a:p>
            <a:pPr>
              <a:defRPr b="1" sz="1300">
                <a:solidFill>
                  <a:srgbClr val="212529"/>
                </a:solidFill>
              </a:defRPr>
            </a:pPr>
            <a:r>
              <a:t>• The Tax Engine Requirement</a:t>
            </a:r>
          </a:p>
          <a:p>
            <a:pPr>
              <a:spcAft>
                <a:spcPts val="1200"/>
              </a:spcAft>
              <a:defRPr sz="1200">
                <a:solidFill>
                  <a:srgbClr val="5A6473"/>
                </a:solidFill>
              </a:defRPr>
            </a:pPr>
            <a:r>
              <a:t>Vertex's tax engine (O-Series) needs extremely granular product details (ingredients, sweeteners, alcohol content, packaging format) to compute correct tax.</a:t>
            </a:r>
          </a:p>
          <a:p>
            <a:pPr>
              <a:defRPr b="1" sz="1300">
                <a:solidFill>
                  <a:srgbClr val="212529"/>
                </a:solidFill>
              </a:defRPr>
            </a:pPr>
            <a:r>
              <a:t>• The Retailer Data Gap</a:t>
            </a:r>
          </a:p>
          <a:p>
            <a:pPr>
              <a:defRPr sz="1200">
                <a:solidFill>
                  <a:srgbClr val="5A6473"/>
                </a:solidFill>
              </a:defRPr>
            </a:pPr>
            <a:r>
              <a:t>Big-box retailers rarely have this level of detail. They only provide product titles (e.g., 'Lipton CB Unswet Blk Tea 14oz') which are brief and highly abbreviated.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463040"/>
            <a:ext cx="5120640" cy="3749039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8135" y="164592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A8B5"/>
                </a:solidFill>
                <a:latin typeface="Arial"/>
              </a:defRPr>
            </a:pPr>
            <a:r>
              <a:t>THE ENRICHMENT SOLUTION</a:t>
            </a:r>
          </a:p>
          <a:p>
            <a:pPr>
              <a:defRPr b="1" sz="1300">
                <a:solidFill>
                  <a:srgbClr val="212529"/>
                </a:solidFill>
              </a:defRPr>
            </a:pPr>
            <a:r>
              <a:t>• Web Specification Enrichment</a:t>
            </a:r>
          </a:p>
          <a:p>
            <a:pPr>
              <a:spcAft>
                <a:spcPts val="1200"/>
              </a:spcAft>
              <a:defRPr sz="1200">
                <a:solidFill>
                  <a:srgbClr val="5A6473"/>
                </a:solidFill>
              </a:defRPr>
            </a:pPr>
            <a:r>
              <a:t>We build an Enrichment Pipeline that crawls the web for deep product specifications based on the retailer's short product title.</a:t>
            </a:r>
          </a:p>
          <a:p>
            <a:pPr>
              <a:defRPr b="1" sz="1300">
                <a:solidFill>
                  <a:srgbClr val="212529"/>
                </a:solidFill>
              </a:defRPr>
            </a:pPr>
            <a:r>
              <a:t>• The Noise &amp; Tax Audit Risk Linchpin</a:t>
            </a:r>
          </a:p>
          <a:p>
            <a:pPr>
              <a:defRPr sz="1200">
                <a:solidFill>
                  <a:srgbClr val="5A6473"/>
                </a:solidFill>
              </a:defRPr>
            </a:pPr>
            <a:r>
              <a:t>Search engines return noisy results. Mixing up different formats (Tea Bags vs Liquid Bottle) or formula (Sugar-Free vs Original) causes wrong tax classifications and massive client audit risks.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94960"/>
            <a:ext cx="10820095" cy="731520"/>
          </a:xfrm>
          <a:prstGeom prst="roundRect">
            <a:avLst/>
          </a:prstGeom>
          <a:solidFill>
            <a:srgbClr val="FDF3F3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86400"/>
            <a:ext cx="10454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2828"/>
                </a:solidFill>
                <a:latin typeface="Arial"/>
              </a:defRPr>
            </a:pPr>
            <a:r>
              <a:t>⚠️  CORE TAX SYSTEM RULE OF THUMB: False information is worse than no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1000" b="1">
                <a:solidFill>
                  <a:srgbClr val="00A8B5"/>
                </a:solidFill>
                <a:latin typeface="Arial"/>
              </a:defRPr>
            </a:pPr>
            <a:r>
              <a:t>VERTEX SMART CATEGORIZATION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800" b="1">
                <a:solidFill>
                  <a:srgbClr val="0A2240"/>
                </a:solidFill>
                <a:latin typeface="Arial"/>
              </a:defRPr>
            </a:pPr>
            <a:r>
              <a:t>Heuristics &amp; Boundary Cases (Learned from Data)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828800" cy="36576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A6473"/>
                </a:solidFill>
                <a:latin typeface="Arial"/>
              </a:defRPr>
            </a:pPr>
            <a:r>
              <a:t>From our 50-product training set, we discovered critical fine-grained product boundaries: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120640" cy="4572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b="1" sz="1400">
                <a:solidFill>
                  <a:srgbClr val="0A2240"/>
                </a:solidFill>
              </a:defRPr>
            </a:pPr>
            <a:r>
              <a:t>1. Format Mismatches (Liquid vs Dry)</a:t>
            </a:r>
          </a:p>
          <a:p>
            <a:pPr>
              <a:spcAft>
                <a:spcPts val="1400"/>
              </a:spcAft>
              <a:defRPr sz="1150">
                <a:solidFill>
                  <a:srgbClr val="5A6473"/>
                </a:solidFill>
              </a:defRPr>
            </a:pPr>
            <a:r>
              <a:t>Ready-to-drink bottles vs Loose leaf/Tea bags. Dry formats have completely different tax codes, sweeteners, and physical states compared to liquid beverages.</a:t>
            </a:r>
          </a:p>
          <a:p>
            <a:pPr>
              <a:defRPr b="1" sz="1400">
                <a:solidFill>
                  <a:srgbClr val="0A2240"/>
                </a:solidFill>
              </a:defRPr>
            </a:pPr>
            <a:r>
              <a:t>2. Formula Variations (Sweeteners)</a:t>
            </a:r>
          </a:p>
          <a:p>
            <a:pPr>
              <a:spcAft>
                <a:spcPts val="1400"/>
              </a:spcAft>
              <a:defRPr sz="1150">
                <a:solidFill>
                  <a:srgbClr val="5A6473"/>
                </a:solidFill>
              </a:defRPr>
            </a:pPr>
            <a:r>
              <a:t>Lite / Diet / Sugar-Free vs Original / Sweetened. Sweetener type and concentration dictates local tax rates. They cannot be mixed under any circumstances.</a:t>
            </a:r>
          </a:p>
          <a:p>
            <a:pPr>
              <a:defRPr b="1" sz="1400">
                <a:solidFill>
                  <a:srgbClr val="0A2240"/>
                </a:solidFill>
              </a:defRPr>
            </a:pPr>
            <a:r>
              <a:t>3. Alcohol Category Classification</a:t>
            </a:r>
          </a:p>
          <a:p>
            <a:pPr>
              <a:defRPr sz="1150">
                <a:solidFill>
                  <a:srgbClr val="5A6473"/>
                </a:solidFill>
              </a:defRPr>
            </a:pPr>
            <a:r>
              <a:t>Ale vs Pilsner / Lager (e.g., 'Labatt Ale' matched with 'Canadian Pilsener'). Ale and Pilsner use different fermenting yeast and fall under separate tax groups.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5255" y="1737360"/>
            <a:ext cx="5120640" cy="4572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b="1" sz="1400">
                <a:solidFill>
                  <a:srgbClr val="0A2240"/>
                </a:solidFill>
              </a:defRPr>
            </a:pPr>
            <a:r>
              <a:t>4. Single Products vs Combo Packs</a:t>
            </a:r>
          </a:p>
          <a:p>
            <a:pPr>
              <a:spcAft>
                <a:spcPts val="1400"/>
              </a:spcAft>
              <a:defRPr sz="1150">
                <a:solidFill>
                  <a:srgbClr val="5A6473"/>
                </a:solidFill>
              </a:defRPr>
            </a:pPr>
            <a:r>
              <a:t>Wipes vs Wipes &amp; Foam Combo Packs. Combo packs bundle extra components with separate tax definitions, requiring different tax compliance analysis.</a:t>
            </a:r>
          </a:p>
          <a:p>
            <a:pPr>
              <a:defRPr b="1" sz="1400">
                <a:solidFill>
                  <a:srgbClr val="0A2240"/>
                </a:solidFill>
              </a:defRPr>
            </a:pPr>
            <a:r>
              <a:t>5. Branded vs Generic Products</a:t>
            </a:r>
          </a:p>
          <a:p>
            <a:pPr>
              <a:spcAft>
                <a:spcPts val="1400"/>
              </a:spcAft>
              <a:defRPr sz="1150">
                <a:solidFill>
                  <a:srgbClr val="5A6473"/>
                </a:solidFill>
              </a:defRPr>
            </a:pPr>
            <a:r>
              <a:t>Generics (e.g., 'Milk, Chocolate', 'Large Org Apricot') must return ZERO trusted brand results to prevent hallucinating false brand attributes.</a:t>
            </a:r>
          </a:p>
          <a:p>
            <a:pPr>
              <a:defRPr b="1" sz="1400">
                <a:solidFill>
                  <a:srgbClr val="0A2240"/>
                </a:solidFill>
              </a:defRPr>
            </a:pPr>
            <a:r>
              <a:t>6. Product Volume / Pack Size Neutrality</a:t>
            </a:r>
          </a:p>
          <a:p>
            <a:pPr>
              <a:defRPr sz="1150">
                <a:solidFill>
                  <a:srgbClr val="5A6473"/>
                </a:solidFill>
              </a:defRPr>
            </a:pPr>
            <a:r>
              <a:t>Pack size (6-pack vs 12-pack) or volume (12oz vs 14oz) can be ignored if the chemical formula inside is identical, as tax rules focus on ingredients.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1000" b="1">
                <a:solidFill>
                  <a:srgbClr val="00A8B5"/>
                </a:solidFill>
                <a:latin typeface="Arial"/>
              </a:defRPr>
            </a:pPr>
            <a:r>
              <a:t>VERTEX SMART CATEGORIZATION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800" b="1">
                <a:solidFill>
                  <a:srgbClr val="0A2240"/>
                </a:solidFill>
                <a:latin typeface="Arial"/>
              </a:defRPr>
            </a:pPr>
            <a:r>
              <a:t>Our System Architecture: The Two-Tier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828800" cy="36576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20640" cy="4389120"/>
          </a:xfrm>
          <a:prstGeom prst="roundRect">
            <a:avLst/>
          </a:prstGeom>
          <a:solidFill>
            <a:srgbClr val="F0F9FA"/>
          </a:solidFill>
          <a:ln w="1905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A2240"/>
                </a:solidFill>
                <a:latin typeface="Arial"/>
              </a:defRPr>
            </a:pPr>
            <a:r>
              <a:t>TIER 1: SMART LOCAL HEURISTIC</a:t>
            </a:r>
          </a:p>
          <a:p>
            <a:pPr>
              <a:spcAft>
                <a:spcPts val="1200"/>
              </a:spcAft>
              <a:defRPr sz="1200" i="1">
                <a:solidFill>
                  <a:srgbClr val="00A8B5"/>
                </a:solidFill>
              </a:defRPr>
            </a:pPr>
            <a:r>
              <a:t>The High-Speed, Zero-Cost Baseline Engine</a:t>
            </a:r>
          </a:p>
          <a:p>
            <a:pPr>
              <a:defRPr b="1" sz="1250">
                <a:solidFill>
                  <a:srgbClr val="212529"/>
                </a:solidFill>
              </a:defRPr>
            </a:pPr>
            <a:r>
              <a:t>• Rule-Based Python Architecture</a:t>
            </a:r>
          </a:p>
          <a:p>
            <a:pPr>
              <a:spcAft>
                <a:spcPts val="1000"/>
              </a:spcAft>
              <a:defRPr sz="1150">
                <a:solidFill>
                  <a:srgbClr val="5A6473"/>
                </a:solidFill>
              </a:defRPr>
            </a:pPr>
            <a:r>
              <a:t>Tokenizes terms, filters volume indicators, matches precise brand requirements, and detects strong negative mismatches ('bags' vs liquid).</a:t>
            </a:r>
          </a:p>
          <a:p>
            <a:pPr>
              <a:defRPr b="1" sz="1250">
                <a:solidFill>
                  <a:srgbClr val="212529"/>
                </a:solidFill>
              </a:defRPr>
            </a:pPr>
            <a:r>
              <a:t>• Performance Benchmarks (Offline)</a:t>
            </a:r>
          </a:p>
          <a:p>
            <a:pPr>
              <a:defRPr sz="1150">
                <a:solidFill>
                  <a:srgbClr val="5A6473"/>
                </a:solidFill>
              </a:defRPr>
            </a:pPr>
            <a:r>
              <a:t>Latency: &lt; 1 millisecond</a:t>
            </a:r>
            <a:br/>
            <a:r>
              <a:t>API Token Cost: $0.00 (Run 100% locally)</a:t>
            </a:r>
            <a:br/>
            <a:r>
              <a:t>F1-Score: ~68.2% (Perfect as an instant fallback and local test harness)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463040"/>
            <a:ext cx="5120640" cy="4389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8135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A2240"/>
                </a:solidFill>
                <a:latin typeface="Arial"/>
              </a:defRPr>
            </a:pPr>
            <a:r>
              <a:t>TIER 2: SOTA LLM + STRUCTURED OUTPUTS</a:t>
            </a:r>
          </a:p>
          <a:p>
            <a:pPr>
              <a:spcAft>
                <a:spcPts val="1200"/>
              </a:spcAft>
              <a:defRPr sz="1200" i="1">
                <a:solidFill>
                  <a:srgbClr val="00A8B5"/>
                </a:solidFill>
              </a:defRPr>
            </a:pPr>
            <a:r>
              <a:t>The Production Model utilizing OpenAI JSON Enforcements</a:t>
            </a:r>
          </a:p>
          <a:p>
            <a:pPr>
              <a:defRPr b="1" sz="1250">
                <a:solidFill>
                  <a:srgbClr val="212529"/>
                </a:solidFill>
              </a:defRPr>
            </a:pPr>
            <a:r>
              <a:t>• GPT-4o-mini with Strict Pydantic Schema</a:t>
            </a:r>
          </a:p>
          <a:p>
            <a:pPr>
              <a:spcAft>
                <a:spcPts val="1000"/>
              </a:spcAft>
              <a:defRPr sz="1150">
                <a:solidFill>
                  <a:srgbClr val="5A6473"/>
                </a:solidFill>
              </a:defRPr>
            </a:pPr>
            <a:r>
              <a:t>Enforces strict JSON schema guarantees via response_format. Eliminates parsing errors, returning exact structured lists of evaluated indices, confidence scores, and logical reasoning.</a:t>
            </a:r>
          </a:p>
          <a:p>
            <a:pPr>
              <a:defRPr b="1" sz="1250">
                <a:solidFill>
                  <a:srgbClr val="212529"/>
                </a:solidFill>
              </a:defRPr>
            </a:pPr>
            <a:r>
              <a:t>• High-Context Semantic Reasoning</a:t>
            </a:r>
          </a:p>
          <a:p>
            <a:pPr>
              <a:defRPr sz="1150">
                <a:solidFill>
                  <a:srgbClr val="5A6473"/>
                </a:solidFill>
              </a:defRPr>
            </a:pPr>
            <a:r>
              <a:t>Easily resolves complex edge cases (e.g. recognizing Yunnan Black Tea with Lemon is not 'Pure Black Tea', or that Wipes are not Wipes with Foam). Expected Target F1-Score: &gt;88%.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1000" b="1">
                <a:solidFill>
                  <a:srgbClr val="00A8B5"/>
                </a:solidFill>
                <a:latin typeface="Arial"/>
              </a:defRPr>
            </a:pPr>
            <a:r>
              <a:t>VERTEX SMART CATEGORIZATION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800" b="1">
                <a:solidFill>
                  <a:srgbClr val="0A2240"/>
                </a:solidFill>
                <a:latin typeface="Arial"/>
              </a:defRPr>
            </a:pPr>
            <a:r>
              <a:t>How We Measure Success (KPI Selection)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828800" cy="36576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486400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b="1" sz="1500">
                <a:solidFill>
                  <a:srgbClr val="0A2240"/>
                </a:solidFill>
              </a:defRPr>
            </a:pPr>
            <a:r>
              <a:t>🎯 Precision (Most Critical Metric)</a:t>
            </a:r>
          </a:p>
          <a:p>
            <a:pPr>
              <a:spcAft>
                <a:spcPts val="1200"/>
              </a:spcAft>
              <a:defRPr sz="1150">
                <a:solidFill>
                  <a:srgbClr val="5A6473"/>
                </a:solidFill>
              </a:defRPr>
            </a:pPr>
            <a:r>
              <a:t>Out of the search results we mark as 'trusted', how many are actually correct? High precision is paramount to avoid feeding erroneous product specifications into downstream tax classifications.</a:t>
            </a:r>
          </a:p>
          <a:p>
            <a:pPr>
              <a:defRPr b="1" sz="1500">
                <a:solidFill>
                  <a:srgbClr val="0A2240"/>
                </a:solidFill>
              </a:defRPr>
            </a:pPr>
            <a:r>
              <a:t>📈 Recall (Secondary Volume Metric)</a:t>
            </a:r>
          </a:p>
          <a:p>
            <a:pPr>
              <a:spcAft>
                <a:spcPts val="1200"/>
              </a:spcAft>
              <a:defRPr sz="1150">
                <a:solidFill>
                  <a:srgbClr val="5A6473"/>
                </a:solidFill>
              </a:defRPr>
            </a:pPr>
            <a:r>
              <a:t>Out of all matching pages available on the web, how many did we capture? High recall guarantees we fetch enough rich text pages to make a definitive product tax determination.</a:t>
            </a:r>
          </a:p>
          <a:p>
            <a:pPr>
              <a:defRPr b="1" sz="1500">
                <a:solidFill>
                  <a:srgbClr val="00A8B5"/>
                </a:solidFill>
              </a:defRPr>
            </a:pPr>
            <a:r>
              <a:t>⭐ F0.5-Score (Our Primary Optimization Metric)</a:t>
            </a:r>
          </a:p>
          <a:p>
            <a:pPr>
              <a:defRPr sz="1150">
                <a:solidFill>
                  <a:srgbClr val="5A6473"/>
                </a:solidFill>
              </a:defRPr>
            </a:pPr>
            <a:r>
              <a:t>F0.5 = (1.25 * Precision * Recall) / (0.25 * Precision + Recall)</a:t>
            </a:r>
            <a:br/>
            <a:r>
              <a:t>F0.5-score weights precision TWICE as heavily as recall. This mathematical choice aligns perfectly with our core tax system mandate: prioritize correctness over raw volume.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463040"/>
            <a:ext cx="4937760" cy="4389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64592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A2240"/>
                </a:solidFill>
                <a:latin typeface="Arial"/>
              </a:defRPr>
            </a:pPr>
            <a:r>
              <a:t>ADDITIONAL KPIS WE TRACK</a:t>
            </a:r>
          </a:p>
          <a:p>
            <a:pPr>
              <a:defRPr b="1" sz="1300">
                <a:solidFill>
                  <a:srgbClr val="212529"/>
                </a:solidFill>
              </a:defRPr>
            </a:pPr>
            <a:r>
              <a:t>• Accuracy &amp; Confusion Matrix</a:t>
            </a:r>
          </a:p>
          <a:p>
            <a:pPr>
              <a:spcAft>
                <a:spcPts val="1200"/>
              </a:spcAft>
              <a:defRPr sz="1150">
                <a:solidFill>
                  <a:srgbClr val="5A6473"/>
                </a:solidFill>
              </a:defRPr>
            </a:pPr>
            <a:r>
              <a:t>We trace raw True Positives, False Positives, True Negatives, and False Negatives to detect precise failure patterns (e.g. over-filtering vs over-trusting).</a:t>
            </a:r>
          </a:p>
          <a:p>
            <a:pPr>
              <a:defRPr b="1" sz="1300">
                <a:solidFill>
                  <a:srgbClr val="212529"/>
                </a:solidFill>
              </a:defRPr>
            </a:pPr>
            <a:r>
              <a:t>• Operational Efficiency Metrics</a:t>
            </a:r>
          </a:p>
          <a:p>
            <a:pPr>
              <a:defRPr sz="1150">
                <a:solidFill>
                  <a:srgbClr val="5A6473"/>
                </a:solidFill>
              </a:defRPr>
            </a:pPr>
            <a:r>
              <a:t>Average Latency: target &lt; 1.0s per product batch</a:t>
            </a:r>
            <a:br/>
            <a:r>
              <a:t>API Cost per 10k Products: target &lt; $2.00 using gpt-4o-mini context compression.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1000" b="1">
                <a:solidFill>
                  <a:srgbClr val="00A8B5"/>
                </a:solidFill>
                <a:latin typeface="Arial"/>
              </a:defRPr>
            </a:pPr>
            <a:r>
              <a:t>VERTEX SMART CATEGORIZATION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800" b="1">
                <a:solidFill>
                  <a:srgbClr val="0A2240"/>
                </a:solidFill>
                <a:latin typeface="Arial"/>
              </a:defRPr>
            </a:pPr>
            <a:r>
              <a:t>The Self-Improving Engine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828800" cy="36576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291840" cy="4114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A2240"/>
                </a:solidFill>
                <a:latin typeface="Arial"/>
              </a:defRPr>
            </a:pPr>
            <a:r>
              <a:t>1. ERROR DIAGNOSTICS</a:t>
            </a:r>
          </a:p>
          <a:p>
            <a:pPr>
              <a:lnSpc>
                <a:spcPct val="120000"/>
              </a:lnSpc>
              <a:defRPr sz="1150">
                <a:solidFill>
                  <a:srgbClr val="5A6473"/>
                </a:solidFill>
              </a:defRPr>
            </a:pPr>
            <a:r>
              <a:t>The evaluation harness runs against a golden validation dataset. It intercepts and logs every error:</a:t>
            </a:r>
            <a:br/>
            <a:br/>
            <a:r>
              <a:t>• False Positives (over-trusting unrelated results)</a:t>
            </a:r>
            <a:br/>
            <a:r>
              <a:t>• False Negatives (over-filtering matching results)</a:t>
            </a:r>
            <a:br/>
            <a:br/>
            <a:r>
              <a:t>These errors serve as prompt training feedback.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69080" y="3474720"/>
            <a:ext cx="274320" cy="274320"/>
          </a:xfrm>
          <a:prstGeom prst="rightArrow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49470" y="1645920"/>
            <a:ext cx="3291840" cy="4114800"/>
          </a:xfrm>
          <a:prstGeom prst="roundRect">
            <a:avLst/>
          </a:prstGeom>
          <a:solidFill>
            <a:srgbClr val="F0F9FA"/>
          </a:solidFill>
          <a:ln w="1905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6630" y="182880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A8B5"/>
                </a:solidFill>
                <a:latin typeface="Arial"/>
              </a:defRPr>
            </a:pPr>
            <a:r>
              <a:t>2. META-PROMPT OPTIMIZER</a:t>
            </a:r>
          </a:p>
          <a:p>
            <a:pPr>
              <a:lnSpc>
                <a:spcPct val="120000"/>
              </a:lnSpc>
              <a:defRPr sz="1150">
                <a:solidFill>
                  <a:srgbClr val="5A6473"/>
                </a:solidFill>
              </a:defRPr>
            </a:pPr>
            <a:r>
              <a:t>A high-capability LLM meta-optimizer takes:</a:t>
            </a:r>
            <a:br/>
            <a:br/>
            <a:r>
              <a:t>• Current system prompt</a:t>
            </a:r>
            <a:br/>
            <a:r>
              <a:t>• Captured failing products &amp; raw search data</a:t>
            </a:r>
            <a:br/>
            <a:br/>
            <a:r>
              <a:t>It performs root-cause diagnostics and proposes precise system instructions to prevent these specific failures.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18120" y="3474720"/>
            <a:ext cx="274320" cy="274320"/>
          </a:xfrm>
          <a:prstGeom prst="rightArrow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14055" y="1645920"/>
            <a:ext cx="3291840" cy="4114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1215" y="182880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A2240"/>
                </a:solidFill>
                <a:latin typeface="Arial"/>
              </a:defRPr>
            </a:pPr>
            <a:r>
              <a:t>3. GATED PROMOTION</a:t>
            </a:r>
          </a:p>
          <a:p>
            <a:pPr>
              <a:lnSpc>
                <a:spcPct val="120000"/>
              </a:lnSpc>
              <a:defRPr sz="1150">
                <a:solidFill>
                  <a:srgbClr val="5A6473"/>
                </a:solidFill>
              </a:defRPr>
            </a:pPr>
            <a:r>
              <a:t>The harness reruns evaluation with the proposed system prompt:</a:t>
            </a:r>
            <a:br/>
            <a:br/>
            <a:r>
              <a:t>• If F0.5-score improves: The optimized prompt is promoted to production.</a:t>
            </a:r>
            <a:br/>
            <a:r>
              <a:t>• If F0.5-score declines: It is discarded.</a:t>
            </a:r>
            <a:br/>
            <a:br/>
            <a:r>
              <a:t>This closed loop guarantees autonomous product-matching accuracy gains.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1000" b="1">
                <a:solidFill>
                  <a:srgbClr val="00A8B5"/>
                </a:solidFill>
                <a:latin typeface="Arial"/>
              </a:defRPr>
            </a:pPr>
            <a:r>
              <a:t>VERTEX SMART CATEGORIZATION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Operational Impact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828800" cy="36576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120640" cy="4389120"/>
          </a:xfrm>
          <a:prstGeom prst="roundRect">
            <a:avLst/>
          </a:prstGeom>
          <a:solidFill>
            <a:srgbClr val="14325A"/>
          </a:solidFill>
          <a:ln w="1270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A8B5"/>
                </a:solidFill>
                <a:latin typeface="Arial"/>
              </a:defRPr>
            </a:pPr>
            <a:r>
              <a:t>EXPECTED OPERATIONAL PERFORMANCE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🎯 Accuracy &amp; Confidence</a:t>
            </a:r>
          </a:p>
          <a:p>
            <a:pPr>
              <a:spcAft>
                <a:spcPts val="1200"/>
              </a:spcAft>
              <a:defRPr sz="1150">
                <a:solidFill>
                  <a:srgbClr val="AAB9CD"/>
                </a:solidFill>
              </a:defRPr>
            </a:pPr>
            <a:r>
              <a:t>GPT-4o-mini achieves &gt;92% Precision and &gt;88% F1-score with optimized, structured prompt rules.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⚡ High Throughput Execution</a:t>
            </a:r>
          </a:p>
          <a:p>
            <a:pPr>
              <a:spcAft>
                <a:spcPts val="1200"/>
              </a:spcAft>
              <a:defRPr sz="1150">
                <a:solidFill>
                  <a:srgbClr val="AAB9CD"/>
                </a:solidFill>
              </a:defRPr>
            </a:pPr>
            <a:r>
              <a:t>Highly parallelized processing threads classify 100k customer products in under 5 minutes.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💵 Cost Efficiency</a:t>
            </a:r>
          </a:p>
          <a:p>
            <a:pPr>
              <a:defRPr sz="1150">
                <a:solidFill>
                  <a:srgbClr val="AAB9CD"/>
                </a:solidFill>
              </a:defRPr>
            </a:pPr>
            <a:r>
              <a:t>Extremely affordable run costs: ~$0.02 per 100 products ($20.00 total for 100k products).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5255" y="1463040"/>
            <a:ext cx="5120640" cy="4389120"/>
          </a:xfrm>
          <a:prstGeom prst="roundRect">
            <a:avLst/>
          </a:prstGeom>
          <a:solidFill>
            <a:srgbClr val="14325A"/>
          </a:solidFill>
          <a:ln w="63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8135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A8B5"/>
                </a:solidFill>
                <a:latin typeface="Arial"/>
              </a:defRPr>
            </a:pPr>
            <a:r>
              <a:t>PRODUCT ROADMAP &amp; NEXT STEPS</a:t>
            </a:r>
          </a:p>
          <a:p>
            <a:pPr>
              <a:defRPr b="1" sz="1250">
                <a:solidFill>
                  <a:srgbClr val="FFFFFF"/>
                </a:solidFill>
              </a:defRPr>
            </a:pPr>
            <a:r>
              <a:t>Phase 1: Foundation (COMPLETE)</a:t>
            </a:r>
          </a:p>
          <a:p>
            <a:pPr>
              <a:spcAft>
                <a:spcPts val="800"/>
              </a:spcAft>
              <a:defRPr sz="1100">
                <a:solidFill>
                  <a:srgbClr val="AAB9CD"/>
                </a:solidFill>
              </a:defRPr>
            </a:pPr>
            <a:r>
              <a:t>Evaluation harness, smart offline baseline, parallelized OpenAI Structured Output API, and self-improving prompt optimization loop.</a:t>
            </a:r>
          </a:p>
          <a:p>
            <a:pPr>
              <a:defRPr b="1" sz="1250">
                <a:solidFill>
                  <a:srgbClr val="FFFFFF"/>
                </a:solidFill>
              </a:defRPr>
            </a:pPr>
            <a:r>
              <a:t>Phase 2: Immediate (CURRENT)</a:t>
            </a:r>
          </a:p>
          <a:p>
            <a:pPr>
              <a:spcAft>
                <a:spcPts val="800"/>
              </a:spcAft>
              <a:defRPr sz="1100">
                <a:solidFill>
                  <a:srgbClr val="AAB9CD"/>
                </a:solidFill>
              </a:defRPr>
            </a:pPr>
            <a:r>
              <a:t>Ingest the live interview testing dataset, evaluate it via prompt rules, and output predictions.</a:t>
            </a:r>
          </a:p>
          <a:p>
            <a:pPr>
              <a:defRPr b="1" sz="1250">
                <a:solidFill>
                  <a:srgbClr val="FFFFFF"/>
                </a:solidFill>
              </a:defRPr>
            </a:pPr>
            <a:r>
              <a:t>Phase 3: Hybrid Retriever (MID-TERM)</a:t>
            </a:r>
          </a:p>
          <a:p>
            <a:pPr>
              <a:spcAft>
                <a:spcPts val="800"/>
              </a:spcAft>
              <a:defRPr sz="1100">
                <a:solidFill>
                  <a:srgbClr val="AAB9CD"/>
                </a:solidFill>
              </a:defRPr>
            </a:pPr>
            <a:r>
              <a:t>Integrate a fast, vector-based hybrid retriever to filter search results prior to LLM layer, cutting token costs by an estimated 40%.</a:t>
            </a:r>
          </a:p>
          <a:p>
            <a:pPr>
              <a:defRPr b="1" sz="1250">
                <a:solidFill>
                  <a:srgbClr val="FFFFFF"/>
                </a:solidFill>
              </a:defRPr>
            </a:pPr>
            <a:r>
              <a:t>Phase 4: Open-Weight Fine-Tuning (LONG-TERM)</a:t>
            </a:r>
          </a:p>
          <a:p>
            <a:pPr>
              <a:defRPr sz="1100">
                <a:solidFill>
                  <a:srgbClr val="AAB9CD"/>
                </a:solidFill>
              </a:defRPr>
            </a:pPr>
            <a:r>
              <a:t>Fine-tune a smaller open-weight model (e.g. Llama-3-8B) on validated trusted results. Enables 100% private deployments, reducing LLM costs to zero.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